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3"/>
  </p:normalViewPr>
  <p:slideViewPr>
    <p:cSldViewPr snapToGrid="0">
      <p:cViewPr>
        <p:scale>
          <a:sx n="116" d="100"/>
          <a:sy n="116" d="100"/>
        </p:scale>
        <p:origin x="6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91D24-4FA4-CA4C-BE11-08EE5B6E8EA3}" type="datetimeFigureOut">
              <a:rPr lang="en-CH" smtClean="0"/>
              <a:t>25.11.2025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64FED-8F8F-3A4B-8A5A-6D25AD2F2C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6411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64FED-8F8F-3A4B-8A5A-6D25AD2F2C0E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3017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0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6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1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37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26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555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94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24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45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71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27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28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800" r:id="rId6"/>
    <p:sldLayoutId id="2147483795" r:id="rId7"/>
    <p:sldLayoutId id="2147483796" r:id="rId8"/>
    <p:sldLayoutId id="2147483797" r:id="rId9"/>
    <p:sldLayoutId id="2147483799" r:id="rId10"/>
    <p:sldLayoutId id="214748379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45BB33B7-09FE-FCC7-69C7-44D4572F1F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4557" b="191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02F68B-0B9E-C5AC-5A0C-FB7FBA561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CH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Business Analytics and Data Science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BA76E-E292-8F9A-69BB-9340A013A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r>
              <a:rPr lang="en-CH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Assignment 2</a:t>
            </a:r>
          </a:p>
          <a:p>
            <a:r>
              <a:rPr lang="en-CH" dirty="0">
                <a:solidFill>
                  <a:srgbClr val="FFFF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Leonardo gonnelli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42923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7FEA-5DBF-2F1A-866D-D4A1D25FF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30672"/>
            <a:ext cx="8983154" cy="1398978"/>
          </a:xfrm>
        </p:spPr>
        <p:txBody>
          <a:bodyPr>
            <a:normAutofit/>
          </a:bodyPr>
          <a:lstStyle/>
          <a:p>
            <a:r>
              <a:rPr lang="en-CH" dirty="0"/>
              <a:t>Data Preprocessing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348D-C78B-31E7-0B4A-8E7DF8DB8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9137"/>
            <a:ext cx="2846759" cy="4304698"/>
          </a:xfrm>
        </p:spPr>
        <p:txBody>
          <a:bodyPr>
            <a:normAutofit/>
          </a:bodyPr>
          <a:lstStyle/>
          <a:p>
            <a:r>
              <a:rPr lang="en-CH" sz="1200" b="1" dirty="0"/>
              <a:t>Feature Engineering</a:t>
            </a:r>
          </a:p>
          <a:p>
            <a:r>
              <a:rPr lang="en-CH" sz="1200" dirty="0"/>
              <a:t>Derived features :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car_age, mileage_per_year, engine_efficiency, power_index</a:t>
            </a:r>
            <a:endParaRPr lang="en-CH" sz="1200" dirty="0"/>
          </a:p>
          <a:p>
            <a:r>
              <a:rPr lang="en-CH" sz="1200" dirty="0"/>
              <a:t>Interaction features :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brand_model </a:t>
            </a:r>
            <a:r>
              <a:rPr lang="en-CH" sz="1200" dirty="0"/>
              <a:t>(brand + model combination)</a:t>
            </a:r>
          </a:p>
          <a:p>
            <a:r>
              <a:rPr lang="en-CH" sz="1200" dirty="0"/>
              <a:t>Tax-based features : 5 features capturing tax relationships (e.g.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tax_mileage </a:t>
            </a:r>
            <a:r>
              <a:rPr lang="en-CH" sz="1200" dirty="0"/>
              <a:t>and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tax_per_mpg</a:t>
            </a:r>
            <a:r>
              <a:rPr lang="en-CH" sz="1200" dirty="0"/>
              <a:t>)</a:t>
            </a:r>
          </a:p>
          <a:p>
            <a:r>
              <a:rPr lang="en-CH" sz="1200" dirty="0"/>
              <a:t>Polynomial features : 8 polynomial terms (squared terms and interactions)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33E8C1-0CB3-777B-ABCB-CD78D1BFAAA0}"/>
              </a:ext>
            </a:extLst>
          </p:cNvPr>
          <p:cNvSpPr txBox="1">
            <a:spLocks/>
          </p:cNvSpPr>
          <p:nvPr/>
        </p:nvSpPr>
        <p:spPr>
          <a:xfrm>
            <a:off x="4165477" y="2049137"/>
            <a:ext cx="2846759" cy="430469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sz="1200" b="1" dirty="0"/>
              <a:t>Encoding Strategy</a:t>
            </a:r>
          </a:p>
          <a:p>
            <a:r>
              <a:rPr lang="en-CH" sz="1200" dirty="0"/>
              <a:t>Target encoding : applied to all categorical variables (including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brand_model</a:t>
            </a:r>
            <a:r>
              <a:rPr lang="en-CH" sz="1200" dirty="0"/>
              <a:t>) with smoothing = 10 to reduce overfitting</a:t>
            </a:r>
          </a:p>
          <a:p>
            <a:r>
              <a:rPr lang="en-CH" sz="1200" dirty="0"/>
              <a:t>One-hot encoding (for XGBoost) : replace categorical variables with binary columns</a:t>
            </a:r>
          </a:p>
          <a:p>
            <a:r>
              <a:rPr lang="en-CH" sz="1200" dirty="0"/>
              <a:t>Frequency encoding : model and brand_model frequency added as additional features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38D896-5DBD-9E20-5F2A-781243E2F32D}"/>
              </a:ext>
            </a:extLst>
          </p:cNvPr>
          <p:cNvSpPr txBox="1">
            <a:spLocks/>
          </p:cNvSpPr>
          <p:nvPr/>
        </p:nvSpPr>
        <p:spPr>
          <a:xfrm>
            <a:off x="7233675" y="2049137"/>
            <a:ext cx="2846759" cy="446995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sz="1200" b="1" dirty="0"/>
              <a:t>Data Cleaning and Target Transformation</a:t>
            </a:r>
          </a:p>
          <a:p>
            <a:r>
              <a:rPr lang="en-CH" sz="1200" dirty="0"/>
              <a:t>Dropped columns :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CH" sz="1200" dirty="0"/>
              <a:t> (non-informative),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CH" sz="1200" dirty="0"/>
              <a:t> (we used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car_age </a:t>
            </a:r>
            <a:r>
              <a:rPr lang="en-CH" sz="1200" dirty="0"/>
              <a:t>instead)</a:t>
            </a:r>
          </a:p>
          <a:p>
            <a:r>
              <a:rPr lang="en-CH" sz="1200" dirty="0"/>
              <a:t>Outlier handling : IQR-based clipping to manage extreme values</a:t>
            </a:r>
          </a:p>
          <a:p>
            <a:r>
              <a:rPr lang="en-CH" sz="1200" dirty="0"/>
              <a:t>Target transformation : price distribution being skewed, we applied </a:t>
            </a: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log1p(price)</a:t>
            </a:r>
            <a:r>
              <a:rPr lang="en-CH" sz="1200" dirty="0"/>
              <a:t>, which improves models performance,</a:t>
            </a:r>
          </a:p>
        </p:txBody>
      </p:sp>
    </p:spTree>
    <p:extLst>
      <p:ext uri="{BB962C8B-B14F-4D97-AF65-F5344CB8AC3E}">
        <p14:creationId xmlns:p14="http://schemas.microsoft.com/office/powerpoint/2010/main" val="170195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B45E2-4EC1-3FC9-4A7C-EF61C04D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F1CDB-9981-A7E0-5455-E4E339C4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H" dirty="0"/>
              <a:t>Model Comparison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5846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E38B19A-211F-DCF8-5B74-3A09EB72B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4998720" cy="3760891"/>
          </a:xfrm>
        </p:spPr>
        <p:txBody>
          <a:bodyPr>
            <a:normAutofit/>
          </a:bodyPr>
          <a:lstStyle/>
          <a:p>
            <a:r>
              <a:rPr lang="en-CH" sz="1600" b="1" dirty="0"/>
              <a:t>Key Findings</a:t>
            </a:r>
          </a:p>
          <a:p>
            <a:r>
              <a:rPr lang="en-CH" sz="1600" dirty="0"/>
              <a:t>LightGBM outperforms all other tested models, achieving a significant improvement over the baseline Linear Regression model (54% improvement).</a:t>
            </a:r>
          </a:p>
          <a:p>
            <a:r>
              <a:rPr lang="en-CH" sz="1600" dirty="0"/>
              <a:t>Gradient boosting models outperform the tree-based model (random forest) and linear model.</a:t>
            </a:r>
          </a:p>
          <a:p>
            <a:r>
              <a:rPr lang="en-CH" sz="1600" dirty="0"/>
              <a:t>LightGBM and CatBoost models outperform XGBoost as they handle categorical variables natively.</a:t>
            </a:r>
          </a:p>
          <a:p>
            <a:endParaRPr lang="en-CH" dirty="0"/>
          </a:p>
        </p:txBody>
      </p:sp>
      <p:pic>
        <p:nvPicPr>
          <p:cNvPr id="12" name="Picture 11" descr="A graph with numbers and colored rectangular bars&#10;&#10;AI-generated content may be incorrect.">
            <a:extLst>
              <a:ext uri="{FF2B5EF4-FFF2-40B4-BE49-F238E27FC236}">
                <a16:creationId xmlns:a16="http://schemas.microsoft.com/office/drawing/2014/main" id="{DB068640-DCE1-10EE-FD34-8030427B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66688"/>
            <a:ext cx="5271835" cy="35057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B06839E-D8C3-4A74-BA2B-3B97E7B2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6573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DBFE-ECC6-AA75-80F2-B20E8F90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Conclusion and Further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E69F8-0531-F306-E13B-A057F4EB2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H" sz="1600" b="1" dirty="0"/>
              <a:t>Best model – LightGBM</a:t>
            </a:r>
          </a:p>
          <a:p>
            <a:r>
              <a:rPr lang="en-CH" sz="1600" dirty="0"/>
              <a:t>Final test rmse (on the available half of the test set on Kaggle) : 1892.37 </a:t>
            </a:r>
          </a:p>
          <a:p>
            <a:r>
              <a:rPr lang="en-CH" sz="1600" dirty="0"/>
              <a:t>Achieves the best performance and good generalization.</a:t>
            </a:r>
          </a:p>
          <a:p>
            <a:r>
              <a:rPr lang="en-CH" sz="1600" b="1" dirty="0"/>
              <a:t>Key success factors</a:t>
            </a:r>
          </a:p>
          <a:p>
            <a:r>
              <a:rPr lang="en-CH" sz="1600" dirty="0"/>
              <a:t>Feature engineering, log transformation and target encoding significantly improved models performance (e.g. LightGBM’s rmse : 1953  before target encoding -&gt; 1892 after </a:t>
            </a:r>
            <a:r>
              <a:rPr lang="en-CH" sz="1500" dirty="0"/>
              <a:t>—</a:t>
            </a:r>
            <a:r>
              <a:rPr lang="en-CH" sz="1600" dirty="0"/>
              <a:t> </a:t>
            </a:r>
            <a:r>
              <a:rPr lang="en-CH" dirty="0"/>
              <a:t>↓</a:t>
            </a:r>
            <a:r>
              <a:rPr lang="en-CH" sz="1600" dirty="0"/>
              <a:t>61).</a:t>
            </a:r>
          </a:p>
          <a:p>
            <a:r>
              <a:rPr lang="en-CH" sz="1600" b="1" dirty="0"/>
              <a:t>Further Improvements Ideas</a:t>
            </a:r>
          </a:p>
          <a:p>
            <a:r>
              <a:rPr lang="en-CH" sz="1600" dirty="0"/>
              <a:t>Advanced feature engineering (feature aggregation, combination target encoding...), experiment ensemble methods (model blending, stacking).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885384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326</Words>
  <Application>Microsoft Macintosh PowerPoint</Application>
  <PresentationFormat>Widescreen</PresentationFormat>
  <Paragraphs>31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Calibri</vt:lpstr>
      <vt:lpstr>Consolas</vt:lpstr>
      <vt:lpstr>Univers</vt:lpstr>
      <vt:lpstr>Univers Condensed</vt:lpstr>
      <vt:lpstr>RetrospectVTI</vt:lpstr>
      <vt:lpstr>Business Analytics and Data Science </vt:lpstr>
      <vt:lpstr>Data Preprocessing &amp; Feature Engineering</vt:lpstr>
      <vt:lpstr>Model Comparison</vt:lpstr>
      <vt:lpstr>Conclusion and Further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Gonnelli</dc:creator>
  <cp:lastModifiedBy>Leonardo Gonnelli</cp:lastModifiedBy>
  <cp:revision>11</cp:revision>
  <dcterms:created xsi:type="dcterms:W3CDTF">2025-11-25T09:20:24Z</dcterms:created>
  <dcterms:modified xsi:type="dcterms:W3CDTF">2025-11-25T11:04:33Z</dcterms:modified>
</cp:coreProperties>
</file>